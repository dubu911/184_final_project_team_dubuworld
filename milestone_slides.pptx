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intro: AquaCanvas is our CS184 final project and the goal is to build a painting tool that behaves more like real watercolor instead of just painting a textured brush.</a:t>
            </a:r>
            <a:br>
              <a:rPr lang="en-US"/>
            </a:br>
            <a:br>
              <a:rPr lang="en-US"/>
            </a:br>
            <a:r>
              <a:rPr lang="en-US"/>
              <a:t>We are building it in Godot Engine 4.x, and the key idea is to simulate water flow, pigment transport, and drying over time.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User-provided project description in chat.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biggest milestone so far is that all five parts of the watercolor simulation are connected and running together every frame in the CPU prototype.</a:t>
            </a:r>
            <a:br>
              <a:rPr lang="en-US"/>
            </a:br>
            <a:br>
              <a:rPr lang="en-US"/>
            </a:br>
            <a:r>
              <a:rPr lang="en-US"/>
              <a:t>One issue we hit was a checkerboard artifact in the water redistribution step, so we replaced the original formulation with a 4-direction redistribution scheme that behaves better visually.</a:t>
            </a:r>
            <a:br>
              <a:rPr lang="en-US"/>
            </a:br>
            <a:br>
              <a:rPr lang="en-US"/>
            </a:br>
            <a:r>
              <a:rPr lang="en-US"/>
              <a:t>We also built the user-facing painting tools already, including Wacom pressure input and canvas tilt controls so paint can drip in different directions.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User-provided progress summary in chat.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Right now the CPU version is mainly our correctness prototype. It lets us verify that the watercolor behavior is working before we optimize.</a:t>
            </a:r>
            <a:br>
              <a:rPr lang="en-US"/>
            </a:br>
            <a:br>
              <a:rPr lang="en-US"/>
            </a:br>
            <a:r>
              <a:rPr lang="en-US"/>
              <a:t>The next major step is moving the simulation to GLSL compute shaders in Godot. We want to first match CPU output at 64×64, then scale up to larger canvases like 512×512 or beyond, and finally compare FPS between the two versions.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User-provided remaining work summary in chat.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QUA">
  <p:cSld name="AQUA">
    <p:bg>
      <p:bgPr>
        <a:solidFill>
          <a:srgbClr val="F7F8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9E7DD"/>
          </a:solidFill>
          <a:ln cap="flat" cmpd="sng" w="12700">
            <a:solidFill>
              <a:srgbClr val="D9E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457200" y="656539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5A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rPr>
              <a:t>CS 184/284A • Spring 2026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9784080" y="654710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55A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rPr>
              <a:t>Team Dubuworld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750040" y="654710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750040" y="654710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655355" y="1143000"/>
            <a:ext cx="10881300" cy="4800600"/>
          </a:xfrm>
          <a:prstGeom prst="roundRect">
            <a:avLst>
              <a:gd fmla="val 1905" name="adj"/>
            </a:avLst>
          </a:prstGeom>
          <a:solidFill>
            <a:srgbClr val="EAF2EC"/>
          </a:solidFill>
          <a:ln cap="flat" cmpd="sng" w="12700">
            <a:solidFill>
              <a:srgbClr val="D7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7955280" y="1143000"/>
            <a:ext cx="3566160" cy="4800600"/>
          </a:xfrm>
          <a:prstGeom prst="rect">
            <a:avLst/>
          </a:prstGeom>
          <a:solidFill>
            <a:srgbClr val="D4E5D8"/>
          </a:solidFill>
          <a:ln cap="flat" cmpd="sng" w="12700">
            <a:solidFill>
              <a:srgbClr val="D4E5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1005840" y="1627632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2D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F3B2D"/>
                </a:solidFill>
                <a:latin typeface="Play"/>
                <a:ea typeface="Play"/>
                <a:cs typeface="Play"/>
                <a:sym typeface="Play"/>
              </a:rPr>
              <a:t>AquaCanvas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05840" y="224028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5A4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rPr>
              <a:t>Real-Time Watercolor Simulation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005850" y="2788930"/>
            <a:ext cx="56694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digital painting tool that simulates water flow, pigment transport, and drying over time.</a:t>
            </a:r>
            <a:endParaRPr sz="1800">
              <a:solidFill>
                <a:srgbClr val="334155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275320" y="1737360"/>
            <a:ext cx="28803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4231"/>
                </a:solidFill>
                <a:latin typeface="Arial"/>
                <a:ea typeface="Arial"/>
                <a:cs typeface="Arial"/>
                <a:sym typeface="Arial"/>
              </a:rPr>
              <a:t>Team Dubuworld</a:t>
            </a:r>
            <a:endParaRPr b="0" i="0" sz="1800" u="none" cap="none" strike="noStrike">
              <a:solidFill>
                <a:srgbClr val="24423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24423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4231"/>
                </a:solidFill>
                <a:latin typeface="Arial"/>
                <a:ea typeface="Arial"/>
                <a:cs typeface="Arial"/>
                <a:sym typeface="Arial"/>
              </a:rPr>
              <a:t>Daeyoung Kim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4231"/>
                </a:solidFill>
                <a:latin typeface="Arial"/>
                <a:ea typeface="Arial"/>
                <a:cs typeface="Arial"/>
                <a:sym typeface="Arial"/>
              </a:rPr>
              <a:t>Jaegyum Kim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4231"/>
                </a:solidFill>
                <a:latin typeface="Arial"/>
                <a:ea typeface="Arial"/>
                <a:cs typeface="Arial"/>
                <a:sym typeface="Arial"/>
              </a:rPr>
              <a:t>Brian Sui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4231"/>
                </a:solidFill>
                <a:latin typeface="Arial"/>
                <a:ea typeface="Arial"/>
                <a:cs typeface="Arial"/>
                <a:sym typeface="Arial"/>
              </a:rPr>
              <a:t>Shenrui Wu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3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>
            <p:ph idx="4294967295" type="sldNum"/>
          </p:nvPr>
        </p:nvSpPr>
        <p:spPr>
          <a:xfrm>
            <a:off x="11750040" y="654710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55A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4" title="outli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50" y="3956250"/>
            <a:ext cx="1746850" cy="1722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 title="diffusion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0475" y="3956250"/>
            <a:ext cx="1746850" cy="1722250"/>
          </a:xfrm>
          <a:prstGeom prst="rect">
            <a:avLst/>
          </a:prstGeom>
          <a:solidFill>
            <a:srgbClr val="EAF2EC"/>
          </a:solidFill>
          <a:ln cap="flat" cmpd="sng" w="12700">
            <a:solidFill>
              <a:srgbClr val="D7E5D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" name="Google Shape;32;p4" title="dripping_effe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5101" y="3956250"/>
            <a:ext cx="1856409" cy="1722250"/>
          </a:xfrm>
          <a:prstGeom prst="rect">
            <a:avLst/>
          </a:prstGeom>
          <a:solidFill>
            <a:srgbClr val="EAF2EC"/>
          </a:solidFill>
          <a:ln cap="flat" cmpd="sng" w="12700">
            <a:solidFill>
              <a:srgbClr val="D7E5D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640080" y="50292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5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20352A"/>
                </a:solidFill>
                <a:latin typeface="Play"/>
                <a:ea typeface="Play"/>
                <a:cs typeface="Play"/>
                <a:sym typeface="Play"/>
              </a:rPr>
              <a:t>What We Built So Far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5836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A6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A63"/>
                </a:solidFill>
                <a:latin typeface="Arial"/>
                <a:ea typeface="Arial"/>
                <a:cs typeface="Arial"/>
                <a:sym typeface="Arial"/>
              </a:rPr>
              <a:t>CPU prototype running interactively on a small canvas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58368" y="1417320"/>
            <a:ext cx="66294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D7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868680" y="1719072"/>
            <a:ext cx="617220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Working CPU simulation on a 64×64 canvas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 5 physics stages run each frame: water displacement, momentum, evaporation, pigment diffusion, and deposition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Improved water transport with a 4-direction redistribution scheme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Fixed checkerboard artifacts from the original paper formulation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Built tools: pressure-sensitive watercolor brush, pencil, eraser, color picker, and tilt controls (WASD)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At 64×64, the CPU version runs at interactive frame rates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543800" y="1417320"/>
            <a:ext cx="3977640" cy="1938528"/>
          </a:xfrm>
          <a:prstGeom prst="roundRect">
            <a:avLst>
              <a:gd fmla="val 3774" name="adj"/>
            </a:avLst>
          </a:prstGeom>
          <a:solidFill>
            <a:srgbClr val="EDF6F0"/>
          </a:solidFill>
          <a:ln cap="flat" cmpd="sng" w="12700">
            <a:solidFill>
              <a:srgbClr val="D7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7818120" y="16276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B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4B37"/>
                </a:solidFill>
                <a:latin typeface="Arial"/>
                <a:ea typeface="Arial"/>
                <a:cs typeface="Arial"/>
                <a:sym typeface="Arial"/>
              </a:rPr>
              <a:t>Simulation Pipeline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818120" y="196596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Water displacement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Inertia / momentum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 Evaporation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4. Pigment diffusion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5. Deposition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idx="4294967295" type="sldNum"/>
          </p:nvPr>
        </p:nvSpPr>
        <p:spPr>
          <a:xfrm>
            <a:off x="11750040" y="654710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55A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1987" y="3529600"/>
            <a:ext cx="4081275" cy="2592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640080" y="50292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5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20352A"/>
                </a:solidFill>
                <a:latin typeface="Play"/>
                <a:ea typeface="Play"/>
                <a:cs typeface="Play"/>
                <a:sym typeface="Play"/>
              </a:rPr>
              <a:t>What’s Next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58368" y="98755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A6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A63"/>
                </a:solidFill>
                <a:latin typeface="Arial"/>
                <a:ea typeface="Arial"/>
                <a:cs typeface="Arial"/>
                <a:sym typeface="Arial"/>
              </a:rPr>
              <a:t>Move from correctness on CPU to scale and performance on GPU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31520" y="1554480"/>
            <a:ext cx="1097280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960120" y="1874520"/>
            <a:ext cx="2240280" cy="1234440"/>
          </a:xfrm>
          <a:prstGeom prst="roundRect">
            <a:avLst>
              <a:gd fmla="val 4444" name="adj"/>
            </a:avLst>
          </a:prstGeom>
          <a:solidFill>
            <a:srgbClr val="EDF6F0"/>
          </a:solidFill>
          <a:ln cap="flat" cmpd="sng" w="12700">
            <a:solidFill>
              <a:srgbClr val="BFD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088136" y="1993392"/>
            <a:ext cx="1984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403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54032"/>
                </a:solidFill>
                <a:latin typeface="Arial"/>
                <a:ea typeface="Arial"/>
                <a:cs typeface="Arial"/>
                <a:sym typeface="Arial"/>
              </a:rPr>
              <a:t>1. Port to GPU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088136" y="2249424"/>
            <a:ext cx="19842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Port the simulation to GLSL compute shaders using Godot RenderingDevice API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337560" y="1874520"/>
            <a:ext cx="2240280" cy="1234440"/>
          </a:xfrm>
          <a:prstGeom prst="roundRect">
            <a:avLst>
              <a:gd fmla="val 4444" name="adj"/>
            </a:avLst>
          </a:prstGeom>
          <a:solidFill>
            <a:srgbClr val="EDF6F0"/>
          </a:solidFill>
          <a:ln cap="flat" cmpd="sng" w="12700">
            <a:solidFill>
              <a:srgbClr val="BFD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3465576" y="1993392"/>
            <a:ext cx="1984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403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54032"/>
                </a:solidFill>
                <a:latin typeface="Arial"/>
                <a:ea typeface="Arial"/>
                <a:cs typeface="Arial"/>
                <a:sym typeface="Arial"/>
              </a:rPr>
              <a:t>2. Validate Output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465576" y="2249424"/>
            <a:ext cx="19842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Make sure GPU output matches CPU results at 64×64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715000" y="1874520"/>
            <a:ext cx="2240280" cy="1234440"/>
          </a:xfrm>
          <a:prstGeom prst="roundRect">
            <a:avLst>
              <a:gd fmla="val 4444" name="adj"/>
            </a:avLst>
          </a:prstGeom>
          <a:solidFill>
            <a:srgbClr val="EDF6F0"/>
          </a:solidFill>
          <a:ln cap="flat" cmpd="sng" w="12700">
            <a:solidFill>
              <a:srgbClr val="BFD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5843016" y="1993392"/>
            <a:ext cx="1984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403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54032"/>
                </a:solidFill>
                <a:latin typeface="Arial"/>
                <a:ea typeface="Arial"/>
                <a:cs typeface="Arial"/>
                <a:sym typeface="Arial"/>
              </a:rPr>
              <a:t>3. Scale Resolution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843016" y="2249424"/>
            <a:ext cx="19842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Scale to 512×512 or larger while preserving watercolor behavior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092440" y="1874520"/>
            <a:ext cx="2240280" cy="1234440"/>
          </a:xfrm>
          <a:prstGeom prst="roundRect">
            <a:avLst>
              <a:gd fmla="val 4444" name="adj"/>
            </a:avLst>
          </a:prstGeom>
          <a:solidFill>
            <a:srgbClr val="DCEFE2"/>
          </a:solidFill>
          <a:ln cap="flat" cmpd="sng" w="12700">
            <a:solidFill>
              <a:srgbClr val="BFD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220456" y="1993392"/>
            <a:ext cx="1984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403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54032"/>
                </a:solidFill>
                <a:latin typeface="Arial"/>
                <a:ea typeface="Arial"/>
                <a:cs typeface="Arial"/>
                <a:sym typeface="Arial"/>
              </a:rPr>
              <a:t>4. Benchmark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220456" y="2249424"/>
            <a:ext cx="19842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CPU vs. GPU FPS and measure the speedup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68680" y="38221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B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C4B37"/>
                </a:solidFill>
                <a:latin typeface="Arial"/>
                <a:ea typeface="Arial"/>
                <a:cs typeface="Arial"/>
                <a:sym typeface="Arial"/>
              </a:rPr>
              <a:t>Main remaining work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14400" y="4160520"/>
            <a:ext cx="6309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Port the CPU prototype to compute shaders for performance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Keep the math and behavior consistent during the CPU → GPU transition</a:t>
            </a:r>
            <a:b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 clear evidence that larger canvases become practical with the GPU version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 txBox="1"/>
          <p:nvPr>
            <p:ph idx="4294967295" type="sldNum"/>
          </p:nvPr>
        </p:nvSpPr>
        <p:spPr>
          <a:xfrm>
            <a:off x="11750040" y="654710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55A4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55A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2450" y="3495772"/>
            <a:ext cx="2925526" cy="292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