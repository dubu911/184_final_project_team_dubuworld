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</p:sldIdLst>
  <p:sldSz cy="6858000" cx="12192000"/>
  <p:notesSz cx="6858000" cy="12192000"/>
  <p:embeddedFontLst>
    <p:embeddedFont>
      <p:font typeface="Play"/>
      <p:regular r:id="rId8"/>
      <p:bold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font" Target="fonts/Play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font" Target="fonts/Play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" name="Google Shape;2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Project intro: AquaCanvas is our CS184 final project and the goal is to build a painting tool that behaves more like real watercolor instead of just painting a textured brush.</a:t>
            </a:r>
            <a:br>
              <a:rPr lang="en-US"/>
            </a:br>
            <a:br>
              <a:rPr lang="en-US"/>
            </a:br>
            <a:r>
              <a:rPr lang="en-US"/>
              <a:t>We are building it in Godot Engine 4.x, and the key idea is to simulate water flow, pigment transport, and drying over time.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User-provided project description in chat.</a:t>
            </a:r>
            <a:endParaRPr/>
          </a:p>
        </p:txBody>
      </p:sp>
      <p:sp>
        <p:nvSpPr>
          <p:cNvPr id="21" name="Google Shape;2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" name="Google Shape;3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biggest milestone so far is that all five parts of the watercolor simulation are connected and running together every frame in the CPU prototype.</a:t>
            </a:r>
            <a:br>
              <a:rPr lang="en-US"/>
            </a:br>
            <a:br>
              <a:rPr lang="en-US"/>
            </a:br>
            <a:r>
              <a:rPr lang="en-US"/>
              <a:t>One issue we hit was a checkerboard artifact in the water redistribution step, so we replaced the original formulation with a 4-direction redistribution scheme that behaves better visually.</a:t>
            </a:r>
            <a:br>
              <a:rPr lang="en-US"/>
            </a:br>
            <a:br>
              <a:rPr lang="en-US"/>
            </a:br>
            <a:r>
              <a:rPr lang="en-US"/>
              <a:t>We also built the user-facing painting tools already, including Wacom pressure input and canvas tilt controls so paint can drip in different directions.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User-provided progress summary in chat.</a:t>
            </a:r>
            <a:endParaRPr/>
          </a:p>
        </p:txBody>
      </p:sp>
      <p:sp>
        <p:nvSpPr>
          <p:cNvPr id="36" name="Google Shape;3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" name="Google Shape;4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Right now the CPU version is mainly our correctness prototype. It lets us verify that the watercolor behavior is working before we optimize.</a:t>
            </a:r>
            <a:br>
              <a:rPr lang="en-US"/>
            </a:br>
            <a:br>
              <a:rPr lang="en-US"/>
            </a:br>
            <a:r>
              <a:rPr lang="en-US"/>
              <a:t>The next major step is moving the simulation to GLSL compute shaders in Godot. We want to first match CPU output at 64×64, then scale up to larger canvases like 512×512 or beyond, and finally compare FPS between the two versions.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User-provided remaining work summary in chat.</a:t>
            </a:r>
            <a:endParaRPr/>
          </a:p>
        </p:txBody>
      </p:sp>
      <p:sp>
        <p:nvSpPr>
          <p:cNvPr id="50" name="Google Shape;5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QUA">
  <p:cSld name="AQUA">
    <p:bg>
      <p:bgPr>
        <a:solidFill>
          <a:srgbClr val="F7F8FA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A7C59"/>
          </a:solidFill>
          <a:ln cap="flat" cmpd="sng" w="12700">
            <a:solidFill>
              <a:srgbClr val="4A7C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D9E7DD"/>
          </a:solidFill>
          <a:ln cap="flat" cmpd="sng" w="12700">
            <a:solidFill>
              <a:srgbClr val="D9E7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457200" y="6565392"/>
            <a:ext cx="3474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55A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rPr>
              <a:t>CS 184/284A • Spring 2026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/>
          <p:nvPr/>
        </p:nvSpPr>
        <p:spPr>
          <a:xfrm>
            <a:off x="9784080" y="6547104"/>
            <a:ext cx="1920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55A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rPr>
              <a:t>Team Dubuworld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11750040" y="6547104"/>
            <a:ext cx="228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1750040" y="6547104"/>
            <a:ext cx="228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655355" y="1143000"/>
            <a:ext cx="10881300" cy="4800600"/>
          </a:xfrm>
          <a:prstGeom prst="roundRect">
            <a:avLst>
              <a:gd fmla="val 1905" name="adj"/>
            </a:avLst>
          </a:prstGeom>
          <a:solidFill>
            <a:srgbClr val="EAF2EC"/>
          </a:solidFill>
          <a:ln cap="flat" cmpd="sng" w="12700">
            <a:solidFill>
              <a:srgbClr val="D7E5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>
            <a:off x="7955280" y="1143000"/>
            <a:ext cx="3566160" cy="4800600"/>
          </a:xfrm>
          <a:prstGeom prst="rect">
            <a:avLst/>
          </a:prstGeom>
          <a:solidFill>
            <a:srgbClr val="D4E5D8"/>
          </a:solidFill>
          <a:ln cap="flat" cmpd="sng" w="12700">
            <a:solidFill>
              <a:srgbClr val="D4E5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1005840" y="1627632"/>
            <a:ext cx="46634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B2D"/>
              </a:buClr>
              <a:buSzPts val="2800"/>
              <a:buFont typeface="Play"/>
              <a:buNone/>
            </a:pPr>
            <a:r>
              <a:rPr b="1" i="0" lang="en-US" sz="2800" u="none" cap="none" strike="noStrike">
                <a:solidFill>
                  <a:srgbClr val="1F3B2D"/>
                </a:solidFill>
                <a:latin typeface="Play"/>
                <a:ea typeface="Play"/>
                <a:cs typeface="Play"/>
                <a:sym typeface="Play"/>
              </a:rPr>
              <a:t>AquaCanvas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1005840" y="2240280"/>
            <a:ext cx="5303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55A4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rPr>
              <a:t>Real-Time Watercolor Simulation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1005850" y="2788930"/>
            <a:ext cx="5669400" cy="138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digital painting tool that simulates water flow, pigment transport, and drying over time.</a:t>
            </a:r>
            <a:endParaRPr sz="1800">
              <a:solidFill>
                <a:srgbClr val="334155"/>
              </a:solidFill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8275320" y="1737360"/>
            <a:ext cx="288036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23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44231"/>
                </a:solidFill>
                <a:latin typeface="Arial"/>
                <a:ea typeface="Arial"/>
                <a:cs typeface="Arial"/>
                <a:sym typeface="Arial"/>
              </a:rPr>
              <a:t>Team Dubuworld</a:t>
            </a:r>
            <a:endParaRPr b="0" i="0" sz="1800" u="none" cap="none" strike="noStrike">
              <a:solidFill>
                <a:srgbClr val="24423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23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rgbClr val="24423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23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44231"/>
                </a:solidFill>
                <a:latin typeface="Arial"/>
                <a:ea typeface="Arial"/>
                <a:cs typeface="Arial"/>
                <a:sym typeface="Arial"/>
              </a:rPr>
              <a:t>Daeyoung Kim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23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44231"/>
                </a:solidFill>
                <a:latin typeface="Arial"/>
                <a:ea typeface="Arial"/>
                <a:cs typeface="Arial"/>
                <a:sym typeface="Arial"/>
              </a:rPr>
              <a:t>Jaegy</a:t>
            </a:r>
            <a:r>
              <a:rPr lang="en-US" sz="1800">
                <a:solidFill>
                  <a:srgbClr val="244231"/>
                </a:solidFill>
              </a:rPr>
              <a:t>eo</a:t>
            </a:r>
            <a:r>
              <a:rPr b="0" i="0" lang="en-US" sz="1800" u="none" cap="none" strike="noStrike">
                <a:solidFill>
                  <a:srgbClr val="244231"/>
                </a:solidFill>
                <a:latin typeface="Arial"/>
                <a:ea typeface="Arial"/>
                <a:cs typeface="Arial"/>
                <a:sym typeface="Arial"/>
              </a:rPr>
              <a:t>m Kim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23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44231"/>
                </a:solidFill>
                <a:latin typeface="Arial"/>
                <a:ea typeface="Arial"/>
                <a:cs typeface="Arial"/>
                <a:sym typeface="Arial"/>
              </a:rPr>
              <a:t>Brian Sui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23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44231"/>
                </a:solidFill>
                <a:latin typeface="Arial"/>
                <a:ea typeface="Arial"/>
                <a:cs typeface="Arial"/>
                <a:sym typeface="Arial"/>
              </a:rPr>
              <a:t>Shenrui Wu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23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 txBox="1"/>
          <p:nvPr>
            <p:ph idx="4294967295" type="sldNum"/>
          </p:nvPr>
        </p:nvSpPr>
        <p:spPr>
          <a:xfrm>
            <a:off x="11750040" y="6547104"/>
            <a:ext cx="228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355A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4" title="outlinin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5850" y="3956250"/>
            <a:ext cx="1746850" cy="1722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4" title="diffusion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30475" y="3956250"/>
            <a:ext cx="1746850" cy="1722250"/>
          </a:xfrm>
          <a:prstGeom prst="rect">
            <a:avLst/>
          </a:prstGeom>
          <a:solidFill>
            <a:srgbClr val="EAF2EC"/>
          </a:solidFill>
          <a:ln cap="flat" cmpd="sng" w="12700">
            <a:solidFill>
              <a:srgbClr val="D7E5DA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2" name="Google Shape;32;p4" title="dripping_effect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55101" y="3956250"/>
            <a:ext cx="1856409" cy="1722250"/>
          </a:xfrm>
          <a:prstGeom prst="rect">
            <a:avLst/>
          </a:prstGeom>
          <a:solidFill>
            <a:srgbClr val="EAF2EC"/>
          </a:solidFill>
          <a:ln cap="flat" cmpd="sng" w="12700">
            <a:solidFill>
              <a:srgbClr val="D7E5DA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/>
          <p:nvPr/>
        </p:nvSpPr>
        <p:spPr>
          <a:xfrm>
            <a:off x="640080" y="502920"/>
            <a:ext cx="7132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352A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20352A"/>
                </a:solidFill>
                <a:latin typeface="Play"/>
                <a:ea typeface="Play"/>
                <a:cs typeface="Play"/>
                <a:sym typeface="Play"/>
              </a:rPr>
              <a:t>What We Built So Far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658368" y="987552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A6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B6A63"/>
                </a:solidFill>
                <a:latin typeface="Arial"/>
                <a:ea typeface="Arial"/>
                <a:cs typeface="Arial"/>
                <a:sym typeface="Arial"/>
              </a:rPr>
              <a:t>CPU prototype running interactively on a small canvas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658368" y="1417320"/>
            <a:ext cx="6629400" cy="4526280"/>
          </a:xfrm>
          <a:prstGeom prst="roundRect">
            <a:avLst>
              <a:gd fmla="val 1616" name="adj"/>
            </a:avLst>
          </a:prstGeom>
          <a:solidFill>
            <a:srgbClr val="FFFFFF"/>
          </a:solidFill>
          <a:ln cap="flat" cmpd="sng" w="12700">
            <a:solidFill>
              <a:srgbClr val="D7E5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>
            <a:off x="868680" y="1719072"/>
            <a:ext cx="6172200" cy="39776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Working CPU simulation on a 64×64 canvas</a:t>
            </a:r>
            <a:b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All 5 physics stages run each frame: water displacement, momentum, evaporation, pigment diffusion, and deposition</a:t>
            </a:r>
            <a:b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Improved water transport with a 4-direction redistribution scheme</a:t>
            </a:r>
            <a:b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Fixed checkerboard artifacts from the original paper formulation</a:t>
            </a:r>
            <a:b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Built tools: pressure-sensitive watercolor brush, pencil, eraser, color picker, and tilt controls (WASD)</a:t>
            </a:r>
            <a:b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At 64×64, the CPU version runs at interactive frame rates</a:t>
            </a: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7543800" y="1417320"/>
            <a:ext cx="3977640" cy="1938528"/>
          </a:xfrm>
          <a:prstGeom prst="roundRect">
            <a:avLst>
              <a:gd fmla="val 3774" name="adj"/>
            </a:avLst>
          </a:prstGeom>
          <a:solidFill>
            <a:srgbClr val="EDF6F0"/>
          </a:solidFill>
          <a:ln cap="flat" cmpd="sng" w="12700">
            <a:solidFill>
              <a:srgbClr val="D7E5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5"/>
          <p:cNvSpPr/>
          <p:nvPr/>
        </p:nvSpPr>
        <p:spPr>
          <a:xfrm>
            <a:off x="7818120" y="162763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4B37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C4B37"/>
                </a:solidFill>
                <a:latin typeface="Arial"/>
                <a:ea typeface="Arial"/>
                <a:cs typeface="Arial"/>
                <a:sym typeface="Arial"/>
              </a:rPr>
              <a:t>Simulation Pipeline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7818120" y="1965960"/>
            <a:ext cx="2971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Water displacement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Inertia / momentum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Evaporation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4. Pigment diffusion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5. Deposition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/>
          <p:nvPr>
            <p:ph idx="4294967295" type="sldNum"/>
          </p:nvPr>
        </p:nvSpPr>
        <p:spPr>
          <a:xfrm>
            <a:off x="11750040" y="6547104"/>
            <a:ext cx="228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355A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" name="Google Shape;46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91987" y="3529600"/>
            <a:ext cx="4081275" cy="25926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640080" y="502920"/>
            <a:ext cx="7132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352A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20352A"/>
                </a:solidFill>
                <a:latin typeface="Play"/>
                <a:ea typeface="Play"/>
                <a:cs typeface="Play"/>
                <a:sym typeface="Play"/>
              </a:rPr>
              <a:t>What’s Next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658368" y="987552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A6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B6A63"/>
                </a:solidFill>
                <a:latin typeface="Arial"/>
                <a:ea typeface="Arial"/>
                <a:cs typeface="Arial"/>
                <a:sym typeface="Arial"/>
              </a:rPr>
              <a:t>Move from correctness on CPU to scale and performance on GPU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731520" y="1554480"/>
            <a:ext cx="10972800" cy="18288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D7E5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6"/>
          <p:cNvSpPr/>
          <p:nvPr/>
        </p:nvSpPr>
        <p:spPr>
          <a:xfrm>
            <a:off x="960120" y="1874520"/>
            <a:ext cx="2240280" cy="1234440"/>
          </a:xfrm>
          <a:prstGeom prst="roundRect">
            <a:avLst>
              <a:gd fmla="val 4444" name="adj"/>
            </a:avLst>
          </a:prstGeom>
          <a:solidFill>
            <a:srgbClr val="EDF6F0"/>
          </a:solidFill>
          <a:ln cap="flat" cmpd="sng" w="12700">
            <a:solidFill>
              <a:srgbClr val="BFD5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6"/>
          <p:cNvSpPr/>
          <p:nvPr/>
        </p:nvSpPr>
        <p:spPr>
          <a:xfrm>
            <a:off x="1088136" y="1993392"/>
            <a:ext cx="198424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4032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54032"/>
                </a:solidFill>
                <a:latin typeface="Arial"/>
                <a:ea typeface="Arial"/>
                <a:cs typeface="Arial"/>
                <a:sym typeface="Arial"/>
              </a:rPr>
              <a:t>1. Port to GPU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1088136" y="2249424"/>
            <a:ext cx="1984248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Port the simulation to GLSL compute shaders using Godot RenderingDevice API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3337560" y="1874520"/>
            <a:ext cx="2240280" cy="1234440"/>
          </a:xfrm>
          <a:prstGeom prst="roundRect">
            <a:avLst>
              <a:gd fmla="val 4444" name="adj"/>
            </a:avLst>
          </a:prstGeom>
          <a:solidFill>
            <a:srgbClr val="EDF6F0"/>
          </a:solidFill>
          <a:ln cap="flat" cmpd="sng" w="12700">
            <a:solidFill>
              <a:srgbClr val="BFD5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6"/>
          <p:cNvSpPr/>
          <p:nvPr/>
        </p:nvSpPr>
        <p:spPr>
          <a:xfrm>
            <a:off x="3465576" y="1993392"/>
            <a:ext cx="198424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4032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54032"/>
                </a:solidFill>
                <a:latin typeface="Arial"/>
                <a:ea typeface="Arial"/>
                <a:cs typeface="Arial"/>
                <a:sym typeface="Arial"/>
              </a:rPr>
              <a:t>2. Validate Output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3465576" y="2249424"/>
            <a:ext cx="1984248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Make sure GPU output matches CPU results at 64×64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5715000" y="1874520"/>
            <a:ext cx="2240280" cy="1234440"/>
          </a:xfrm>
          <a:prstGeom prst="roundRect">
            <a:avLst>
              <a:gd fmla="val 4444" name="adj"/>
            </a:avLst>
          </a:prstGeom>
          <a:solidFill>
            <a:srgbClr val="EDF6F0"/>
          </a:solidFill>
          <a:ln cap="flat" cmpd="sng" w="12700">
            <a:solidFill>
              <a:srgbClr val="BFD5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6"/>
          <p:cNvSpPr/>
          <p:nvPr/>
        </p:nvSpPr>
        <p:spPr>
          <a:xfrm>
            <a:off x="5843016" y="1993392"/>
            <a:ext cx="198424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4032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54032"/>
                </a:solidFill>
                <a:latin typeface="Arial"/>
                <a:ea typeface="Arial"/>
                <a:cs typeface="Arial"/>
                <a:sym typeface="Arial"/>
              </a:rPr>
              <a:t>3. Scale Resolution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5843016" y="2249424"/>
            <a:ext cx="1984248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Scale to 512×512 or larger while preserving watercolor behavior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8092440" y="1874520"/>
            <a:ext cx="2240280" cy="1234440"/>
          </a:xfrm>
          <a:prstGeom prst="roundRect">
            <a:avLst>
              <a:gd fmla="val 4444" name="adj"/>
            </a:avLst>
          </a:prstGeom>
          <a:solidFill>
            <a:srgbClr val="DCEFE2"/>
          </a:solidFill>
          <a:ln cap="flat" cmpd="sng" w="12700">
            <a:solidFill>
              <a:srgbClr val="BFD5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6"/>
          <p:cNvSpPr/>
          <p:nvPr/>
        </p:nvSpPr>
        <p:spPr>
          <a:xfrm>
            <a:off x="8220456" y="1993392"/>
            <a:ext cx="198424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4032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54032"/>
                </a:solidFill>
                <a:latin typeface="Arial"/>
                <a:ea typeface="Arial"/>
                <a:cs typeface="Arial"/>
                <a:sym typeface="Arial"/>
              </a:rPr>
              <a:t>4. Benchmark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8220456" y="2249424"/>
            <a:ext cx="1984248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Compare CPU vs. GPU FPS and measure the speedup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868680" y="3822192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4B3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C4B37"/>
                </a:solidFill>
                <a:latin typeface="Arial"/>
                <a:ea typeface="Arial"/>
                <a:cs typeface="Arial"/>
                <a:sym typeface="Arial"/>
              </a:rPr>
              <a:t>Main remaining work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914400" y="4160520"/>
            <a:ext cx="63093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Port the CPU prototype to compute shaders for performance</a:t>
            </a:r>
            <a:b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Keep the math and behavior consistent during the CPU → GPU transition</a:t>
            </a:r>
            <a:b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Show clear evidence that larger canvases become practical with the GPU version</a:t>
            </a:r>
            <a:endParaRPr b="0" i="0" sz="1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6"/>
          <p:cNvSpPr txBox="1"/>
          <p:nvPr>
            <p:ph idx="4294967295" type="sldNum"/>
          </p:nvPr>
        </p:nvSpPr>
        <p:spPr>
          <a:xfrm>
            <a:off x="11750040" y="6547104"/>
            <a:ext cx="228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355A4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355A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92450" y="3495772"/>
            <a:ext cx="2925526" cy="292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